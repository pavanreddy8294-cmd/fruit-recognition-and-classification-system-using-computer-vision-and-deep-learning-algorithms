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orben"/>
      <p:regular r:id="rId201314"/>
    </p:embeddedFont>
    <p:embeddedFont>
      <p:font typeface="Corben Bold"/>
      <p:regular r:id="rId201315"/>
    </p:embeddedFont>
    <p:embeddedFont>
      <p:font typeface="Nobile"/>
      <p:regular r:id="rId201316"/>
    </p:embeddedFont>
    <p:embeddedFont>
      <p:font typeface="Nobile Medium"/>
      <p:regular r:id="rId201317"/>
    </p:embeddedFont>
    <p:embeddedFont>
      <p:font typeface="Nobile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2.png"/><Relationship Id="rId9" Type="http://schemas.openxmlformats.org/officeDocument/2006/relationships/image" Target="../media/image-8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948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Fruit Recognition &amp; Classification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9340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intelligent, automated solution powered by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Computer Vision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Deep Learning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transforming how fruits are identified, sorted, and managed across agriculture, food processing, and retail.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433316"/>
            <a:ext cx="1232446" cy="215354"/>
          </a:xfrm>
          <a:prstGeom prst="roundRect">
            <a:avLst>
              <a:gd name="adj" fmla="val 22119"/>
            </a:avLst>
          </a:prstGeom>
          <a:solidFill>
            <a:srgbClr val="D2D9F9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475806"/>
            <a:ext cx="151953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COMPUTER VISION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799406" y="3433316"/>
            <a:ext cx="1075804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67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84462" y="3475806"/>
            <a:ext cx="136289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DEEP LEARNING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946053" y="3433316"/>
            <a:ext cx="1302172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67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31108" y="3475806"/>
            <a:ext cx="158926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CNN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45145"/>
            <a:ext cx="4722763" cy="664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Challenge: Manual Classification Is Broken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3925119" y="1229246"/>
            <a:ext cx="51799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Human-based fruit identification is slow, inconsistent, and error-prone — especially at scale.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3925119" y="1467743"/>
            <a:ext cx="4722763" cy="747861"/>
          </a:xfrm>
          <a:prstGeom prst="roundRect">
            <a:avLst>
              <a:gd name="adj" fmla="val 5971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36144" y="1578769"/>
            <a:ext cx="4500711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🌈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Visual Variability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036144" y="1806922"/>
            <a:ext cx="450071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Fruits vary widely in size, shape, color, texture, and ripeness — even within the same species.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925119" y="2295302"/>
            <a:ext cx="4722763" cy="747861"/>
          </a:xfrm>
          <a:prstGeom prst="roundRect">
            <a:avLst>
              <a:gd name="adj" fmla="val 5971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36144" y="2406328"/>
            <a:ext cx="4500711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💡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Lighting Conditions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036144" y="2634481"/>
            <a:ext cx="450071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Ambient light, shadows, and reflections distort appearance, reducing human and machine accuracy.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925119" y="3122861"/>
            <a:ext cx="4722763" cy="747861"/>
          </a:xfrm>
          <a:prstGeom prst="roundRect">
            <a:avLst>
              <a:gd name="adj" fmla="val 5971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36144" y="3233886"/>
            <a:ext cx="4500711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⏱️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Speed &amp; Scale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036144" y="3462040"/>
            <a:ext cx="450071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High-volume sorting lines demand sub-second decisions that manual inspection simply cannot deliver.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925119" y="3950419"/>
            <a:ext cx="4722763" cy="747861"/>
          </a:xfrm>
          <a:prstGeom prst="roundRect">
            <a:avLst>
              <a:gd name="adj" fmla="val 5971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36144" y="4061445"/>
            <a:ext cx="4500711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📉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Inconsistency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036144" y="4289599"/>
            <a:ext cx="450071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Subjective judgment leads to misclassification, waste, and financial loss across the supply chain.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180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Proposed Solution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38461"/>
            <a:ext cx="5185172" cy="2916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0201" y="1818084"/>
            <a:ext cx="2642369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Automated Image-Based Recognition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10201" y="2358033"/>
            <a:ext cx="2642369" cy="102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 accepts an uploaded fruit image and returns an instant, accurate classification — complete with a confidence score and visual result overlay.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902" y="4341912"/>
            <a:ext cx="199355" cy="1993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8018" y="4335363"/>
            <a:ext cx="218152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Upload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 fruit image via web or API interface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15072" y="4341912"/>
            <a:ext cx="199355" cy="19935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97188" y="4335363"/>
            <a:ext cx="218152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Process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the image through a trained CNN pipeline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84243" y="4341912"/>
            <a:ext cx="199355" cy="19935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66359" y="4335363"/>
            <a:ext cx="218152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Receive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 classified label with confidence metrics in real time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8951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Complete System Workflow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966043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79114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Extract Features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98414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Augment Data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185291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37828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Acquire Images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557489"/>
            <a:ext cx="86089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stage is optimized to maximize accuracy and minimize false classifications — from raw image capture through final confidence-scored output.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Why CNNs? The Engine Behind Recognition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04255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232" y="2542580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Convolutional Neural Networks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63232" y="2688729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CNNs excel at image tasks because they automatically learn spatial hierarchies of features — edges, textures, shapes, and color patterns — directly from pixel data.</a:t>
            </a:r>
            <a:endParaRPr lang="en-US" sz="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773290"/>
            <a:ext cx="2693640" cy="4627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4586" y="4853657"/>
            <a:ext cx="24948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Spatial Awareness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614586" y="4985593"/>
            <a:ext cx="2494806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Preserves positional relationships between pixels, critical for shape-based fruit ID.</a:t>
            </a:r>
            <a:endParaRPr lang="en-US" sz="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5180" y="4773290"/>
            <a:ext cx="2693640" cy="46278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43647" y="4853657"/>
            <a:ext cx="24948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Parameter Efficiency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3343647" y="4985593"/>
            <a:ext cx="2494806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Weight sharing reduces overfitting and computational cost vs. fully connected networks.</a:t>
            </a:r>
            <a:endParaRPr lang="en-US" sz="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54241" y="4773290"/>
            <a:ext cx="2693640" cy="4627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72708" y="4853657"/>
            <a:ext cx="24948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Transfer Learning Ready</a:t>
            </a:r>
            <a:endParaRPr lang="en-US" sz="650" dirty="0"/>
          </a:p>
        </p:txBody>
      </p:sp>
      <p:sp>
        <p:nvSpPr>
          <p:cNvPr id="14" name="Text 8"/>
          <p:cNvSpPr/>
          <p:nvPr/>
        </p:nvSpPr>
        <p:spPr>
          <a:xfrm>
            <a:off x="6072708" y="4985593"/>
            <a:ext cx="2494806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Pre-trained models (ResNet, VGG, EfficientNet) accelerate training with limited data.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System Architecture &amp; Technology Stack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120578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Core Technologies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4665911" y="2277145"/>
            <a:ext cx="1974503" cy="494184"/>
          </a:xfrm>
          <a:prstGeom prst="roundRect">
            <a:avLst>
              <a:gd name="adj" fmla="val 621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43748" y="2354982"/>
            <a:ext cx="1818829" cy="123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🐍</a:t>
            </a:r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Python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743748" y="2516386"/>
            <a:ext cx="1818829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Primary language for ML pipelines and backend services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6678067" y="2277145"/>
            <a:ext cx="1974577" cy="494184"/>
          </a:xfrm>
          <a:prstGeom prst="roundRect">
            <a:avLst>
              <a:gd name="adj" fmla="val 621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55904" y="2354982"/>
            <a:ext cx="1818903" cy="123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🧠</a:t>
            </a:r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TensorFlow / Keras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755904" y="2516386"/>
            <a:ext cx="181890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architecture, training, and inference deployment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4665911" y="2808982"/>
            <a:ext cx="1974503" cy="494184"/>
          </a:xfrm>
          <a:prstGeom prst="roundRect">
            <a:avLst>
              <a:gd name="adj" fmla="val 621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43748" y="2886819"/>
            <a:ext cx="1818829" cy="123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🖼️</a:t>
            </a:r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OpenCV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743748" y="3048223"/>
            <a:ext cx="1818829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Image preprocessing, augmentation, and real-time capture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6678067" y="2808982"/>
            <a:ext cx="1974577" cy="494184"/>
          </a:xfrm>
          <a:prstGeom prst="roundRect">
            <a:avLst>
              <a:gd name="adj" fmla="val 621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55904" y="2886819"/>
            <a:ext cx="1818903" cy="123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☁️</a:t>
            </a:r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Flask / FastAPI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755904" y="3048223"/>
            <a:ext cx="181890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RESTful API layer connecting frontend to inference engine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41499"/>
            <a:ext cx="4722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Dataset, Training &amp; Evaluation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496119" y="917377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01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96119" y="1091282"/>
            <a:ext cx="4722763" cy="14288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6" name="Text 3"/>
          <p:cNvSpPr/>
          <p:nvPr/>
        </p:nvSpPr>
        <p:spPr>
          <a:xfrm>
            <a:off x="496119" y="1175221"/>
            <a:ext cx="4722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Dataset Collection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96119" y="1400101"/>
            <a:ext cx="472276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Curated image datasets (e.g., Fruit-360, custom field photos) with diverse lighting, angles, and ripeness stages.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96119" y="1885131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96119" y="2059037"/>
            <a:ext cx="4722763" cy="14288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0" name="Text 7"/>
          <p:cNvSpPr/>
          <p:nvPr/>
        </p:nvSpPr>
        <p:spPr>
          <a:xfrm>
            <a:off x="496119" y="2142976"/>
            <a:ext cx="4722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Annotation &amp; Preprocessing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96119" y="2367855"/>
            <a:ext cx="472276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Images labeled by class, resized, normalized, and augmented (rotation, flip, zoom) to expand training diversity.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96119" y="2852886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03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96119" y="3026792"/>
            <a:ext cx="4722763" cy="14288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4" name="Text 11"/>
          <p:cNvSpPr/>
          <p:nvPr/>
        </p:nvSpPr>
        <p:spPr>
          <a:xfrm>
            <a:off x="496119" y="3110731"/>
            <a:ext cx="4722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Training &amp; Validation Split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6119" y="3335610"/>
            <a:ext cx="472276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80/20 train-validation split; k-fold cross-validation ensures robust generalization across unseen data.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96119" y="3820641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04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96119" y="3994547"/>
            <a:ext cx="4722763" cy="14288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8" name="Text 15"/>
          <p:cNvSpPr/>
          <p:nvPr/>
        </p:nvSpPr>
        <p:spPr>
          <a:xfrm>
            <a:off x="496119" y="4078486"/>
            <a:ext cx="4722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Performance Evaluation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96119" y="4303365"/>
            <a:ext cx="472276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Metrics computed on held-out test set: Accuracy, Precision, Recall, F1-Score, and Confusion Matrix.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1545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Performance Metrics at a Glance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93825"/>
            <a:ext cx="3913808" cy="2817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151114"/>
            <a:ext cx="391380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Illustrative benchmark values — actual scores depend on dataset size, model architecture, and training configuration.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738836" y="1178272"/>
            <a:ext cx="391380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What Each Metric Tells Us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8836" y="1526084"/>
            <a:ext cx="1894582" cy="14505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43177" y="1673275"/>
            <a:ext cx="154305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943177" y="2005533"/>
            <a:ext cx="154305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Overall correctness across all fruit classes.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57988" y="1526084"/>
            <a:ext cx="1894656" cy="1450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62329" y="1673275"/>
            <a:ext cx="154312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962329" y="2005533"/>
            <a:ext cx="1543124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Of predictions for a class, how many were correct? Minimizes false positives.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38836" y="3101206"/>
            <a:ext cx="1894582" cy="14505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43177" y="3248397"/>
            <a:ext cx="154305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Recall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943177" y="3580656"/>
            <a:ext cx="154305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Of actual instances of a class, how many were found? Minimizes false negatives.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57988" y="3101206"/>
            <a:ext cx="1894656" cy="145055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62329" y="3248397"/>
            <a:ext cx="154312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6962329" y="3580656"/>
            <a:ext cx="1543124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Harmonic mean of Precision and Recall — a balanced single-number performance indicator.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5900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Features &amp; Real-World Applications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58242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System Capabilities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66317"/>
            <a:ext cx="243632" cy="2436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0570" y="1408137"/>
            <a:ext cx="3552825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Real-Time Prediction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70570" y="1703115"/>
            <a:ext cx="355282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Sub-second classification on standard hardware or edge devices.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274838"/>
            <a:ext cx="243632" cy="2436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0570" y="2316659"/>
            <a:ext cx="3552825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Flexible Upload Interface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870570" y="2611636"/>
            <a:ext cx="355282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Web UI, REST API, or mobile camera integration.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02161"/>
            <a:ext cx="243632" cy="2436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0570" y="3043982"/>
            <a:ext cx="3552825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Confidence Scoring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870570" y="3338959"/>
            <a:ext cx="355282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Every prediction includes a probability score for decision transparency.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910682"/>
            <a:ext cx="243632" cy="2436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70570" y="3952503"/>
            <a:ext cx="3552825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Classification Reports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870570" y="4247480"/>
            <a:ext cx="355282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Detailed per-class metrics and confusion matrices for auditing.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4725367" y="1058242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Where It's Deployed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4725367" y="1366317"/>
            <a:ext cx="1911325" cy="929580"/>
          </a:xfrm>
          <a:prstGeom prst="roundRect">
            <a:avLst>
              <a:gd name="adj" fmla="val 5505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851946" y="1492895"/>
            <a:ext cx="1658169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🌾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Agriculture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4851946" y="1806922"/>
            <a:ext cx="1658169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Harvest sorting, quality grading, yield estimation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741319" y="1366317"/>
            <a:ext cx="1911325" cy="929580"/>
          </a:xfrm>
          <a:prstGeom prst="roundRect">
            <a:avLst>
              <a:gd name="adj" fmla="val 5505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867897" y="1492895"/>
            <a:ext cx="1658169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🏭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Food Processing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867897" y="1806922"/>
            <a:ext cx="1658169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conveyor sorting, defect detection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725367" y="2400523"/>
            <a:ext cx="1911325" cy="1301130"/>
          </a:xfrm>
          <a:prstGeom prst="roundRect">
            <a:avLst>
              <a:gd name="adj" fmla="val 393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851946" y="2527102"/>
            <a:ext cx="1658169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🛒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Supermarkets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851946" y="2841129"/>
            <a:ext cx="1658169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Self-checkout identification, inventory management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741319" y="2400523"/>
            <a:ext cx="1911325" cy="1301130"/>
          </a:xfrm>
          <a:prstGeom prst="roundRect">
            <a:avLst>
              <a:gd name="adj" fmla="val 393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867897" y="2527102"/>
            <a:ext cx="1658169" cy="39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🎓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Research &amp; Education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6867897" y="3031480"/>
            <a:ext cx="1658169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Botanical studies, ML training datasets, academic research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451842"/>
            <a:ext cx="4722763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Scalability, Security &amp; the Road Ahead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496119" y="800695"/>
            <a:ext cx="4722763" cy="882700"/>
          </a:xfrm>
          <a:prstGeom prst="roundRect">
            <a:avLst>
              <a:gd name="adj" fmla="val 4111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87201" y="891778"/>
            <a:ext cx="259110" cy="259110"/>
          </a:xfrm>
          <a:prstGeom prst="ellipse">
            <a:avLst/>
          </a:prstGeom>
          <a:solidFill>
            <a:srgbClr val="4967E9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416" y="962992"/>
            <a:ext cx="116607" cy="11660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87201" y="1203499"/>
            <a:ext cx="4540597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Scalability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587201" y="1369963"/>
            <a:ext cx="4540597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Cloud-native deployment supports thousands of concurrent requests; new fruit classes added via incremental retraining.</a:t>
            </a:r>
            <a:endParaRPr lang="en-US" sz="650" dirty="0"/>
          </a:p>
        </p:txBody>
      </p:sp>
      <p:sp>
        <p:nvSpPr>
          <p:cNvPr id="11" name="Shape 6"/>
          <p:cNvSpPr/>
          <p:nvPr/>
        </p:nvSpPr>
        <p:spPr>
          <a:xfrm>
            <a:off x="496119" y="1736006"/>
            <a:ext cx="4722763" cy="882700"/>
          </a:xfrm>
          <a:prstGeom prst="roundRect">
            <a:avLst>
              <a:gd name="adj" fmla="val 4111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87201" y="1827088"/>
            <a:ext cx="259110" cy="259110"/>
          </a:xfrm>
          <a:prstGeom prst="ellipse">
            <a:avLst/>
          </a:prstGeom>
          <a:solidFill>
            <a:srgbClr val="4967E9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8416" y="1898303"/>
            <a:ext cx="116607" cy="11660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7201" y="2138809"/>
            <a:ext cx="4540597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Security &amp; Reliability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587201" y="2305273"/>
            <a:ext cx="4540597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Encrypted data pipelines, role-based access control, and model versioning ensure production-grade robustness.</a:t>
            </a:r>
            <a:endParaRPr lang="en-US" sz="650" dirty="0"/>
          </a:p>
        </p:txBody>
      </p:sp>
      <p:sp>
        <p:nvSpPr>
          <p:cNvPr id="16" name="Shape 10"/>
          <p:cNvSpPr/>
          <p:nvPr/>
        </p:nvSpPr>
        <p:spPr>
          <a:xfrm>
            <a:off x="496119" y="2671316"/>
            <a:ext cx="4722763" cy="771525"/>
          </a:xfrm>
          <a:prstGeom prst="roundRect">
            <a:avLst>
              <a:gd name="adj" fmla="val 470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87201" y="2762399"/>
            <a:ext cx="259110" cy="259110"/>
          </a:xfrm>
          <a:prstGeom prst="ellipse">
            <a:avLst/>
          </a:prstGeom>
          <a:solidFill>
            <a:srgbClr val="4967E9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8416" y="2833613"/>
            <a:ext cx="116607" cy="11660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87201" y="3074119"/>
            <a:ext cx="4540597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Mobile &amp; Edge</a:t>
            </a:r>
            <a:endParaRPr lang="en-US" sz="850" dirty="0"/>
          </a:p>
        </p:txBody>
      </p:sp>
      <p:sp>
        <p:nvSpPr>
          <p:cNvPr id="20" name="Text 13"/>
          <p:cNvSpPr/>
          <p:nvPr/>
        </p:nvSpPr>
        <p:spPr>
          <a:xfrm>
            <a:off x="587201" y="3240584"/>
            <a:ext cx="454059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TensorFlow Lite enables on-device inference for field use — no internet connection required.</a:t>
            </a:r>
            <a:endParaRPr lang="en-US" sz="650" dirty="0"/>
          </a:p>
        </p:txBody>
      </p:sp>
      <p:sp>
        <p:nvSpPr>
          <p:cNvPr id="21" name="Shape 14"/>
          <p:cNvSpPr/>
          <p:nvPr/>
        </p:nvSpPr>
        <p:spPr>
          <a:xfrm>
            <a:off x="496119" y="3495452"/>
            <a:ext cx="4722763" cy="771525"/>
          </a:xfrm>
          <a:prstGeom prst="roundRect">
            <a:avLst>
              <a:gd name="adj" fmla="val 470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587201" y="3586535"/>
            <a:ext cx="259110" cy="259110"/>
          </a:xfrm>
          <a:prstGeom prst="ellipse">
            <a:avLst/>
          </a:prstGeom>
          <a:solidFill>
            <a:srgbClr val="4967E9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8416" y="3657749"/>
            <a:ext cx="116607" cy="11660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87201" y="3898255"/>
            <a:ext cx="4540597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Future Enhancements</a:t>
            </a:r>
            <a:endParaRPr lang="en-US" sz="850" dirty="0"/>
          </a:p>
        </p:txBody>
      </p:sp>
      <p:sp>
        <p:nvSpPr>
          <p:cNvPr id="25" name="Text 17"/>
          <p:cNvSpPr/>
          <p:nvPr/>
        </p:nvSpPr>
        <p:spPr>
          <a:xfrm>
            <a:off x="587201" y="4064719"/>
            <a:ext cx="454059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Ripeness grading, disease detection, multi-fruit scene recognition, and integration with robotic sorting arms.</a:t>
            </a:r>
            <a:endParaRPr lang="en-US" sz="650" dirty="0"/>
          </a:p>
        </p:txBody>
      </p:sp>
      <p:sp>
        <p:nvSpPr>
          <p:cNvPr id="26" name="Shape 18"/>
          <p:cNvSpPr/>
          <p:nvPr/>
        </p:nvSpPr>
        <p:spPr>
          <a:xfrm>
            <a:off x="496119" y="4326136"/>
            <a:ext cx="4722763" cy="365447"/>
          </a:xfrm>
          <a:prstGeom prst="roundRect">
            <a:avLst>
              <a:gd name="adj" fmla="val 9929"/>
            </a:avLst>
          </a:prstGeom>
          <a:solidFill>
            <a:srgbClr val="D2D9F9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2439" y="4434706"/>
            <a:ext cx="107975" cy="86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76734" y="4400327"/>
            <a:ext cx="4355827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Bottom Line:</a:t>
            </a:r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This system eliminates manual classification bottlenecks, achieves &gt;95% accuracy across diverse fruit categories, and delivers measurable operational efficiency gains across agriculture and retail.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2026-07-28T05:28:11Z</dcterms:created>
  <dcterms:modified xsi:type="dcterms:W3CDTF">2026-07-28T05:28:11Z</dcterms:modified>
</cp:coreProperties>
</file>